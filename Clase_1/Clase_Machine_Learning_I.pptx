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FFFF"/>
                </a:solidFill>
              </a:defRPr>
            </a:pPr>
            <a:r>
              <a:t>Machine Learning I: Fundamentos y Práctica</a:t>
            </a:r>
          </a:p>
          <a:p>
            <a:pPr>
              <a:defRPr sz="2400">
                <a:solidFill>
                  <a:srgbClr val="D6E3F1"/>
                </a:solidFill>
              </a:defRPr>
            </a:pPr>
            <a:r>
              <a:t>Ingeniería Electrónica - FIUNA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Prof. Diego Stalder | Repositorio: github.com/diegostaPy/cursolA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Arial"/>
              </a:defRPr>
            </a:pPr>
            <a:r>
              <a:t>Agenda del Día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282828"/>
                </a:solidFill>
              </a:defRPr>
            </a:pPr>
            <a:r>
              <a:t>• Bloque 1: Introducción y Motivación de la IA moderna</a:t>
            </a:r>
          </a:p>
          <a:p>
            <a:pPr>
              <a:spcAft>
                <a:spcPts val="2000"/>
              </a:spcAft>
              <a:defRPr sz="2400">
                <a:solidFill>
                  <a:srgbClr val="282828"/>
                </a:solidFill>
              </a:defRPr>
            </a:pPr>
            <a:r>
              <a:t>• Bloque 2: Fundamentos Teóricos (Supervisado, No Supervisado y Refuerzo)</a:t>
            </a:r>
          </a:p>
          <a:p>
            <a:pPr>
              <a:spcAft>
                <a:spcPts val="2000"/>
              </a:spcAft>
              <a:defRPr sz="2400">
                <a:solidFill>
                  <a:srgbClr val="282828"/>
                </a:solidFill>
              </a:defRPr>
            </a:pPr>
            <a:r>
              <a:t>• Bloque 3: Práctica en Google Colab con Dataset Sintético y k-NN</a:t>
            </a:r>
          </a:p>
          <a:p>
            <a:pPr>
              <a:spcAft>
                <a:spcPts val="2000"/>
              </a:spcAft>
              <a:defRPr sz="2400">
                <a:solidFill>
                  <a:srgbClr val="282828"/>
                </a:solidFill>
              </a:defRPr>
            </a:pPr>
            <a:r>
              <a:t>• Plan de Evaluación y Cierre de la Sesión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Arial"/>
              </a:defRPr>
            </a:pPr>
            <a:r>
              <a:t>¿Por qué Machine Learning ahora?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4E79"/>
                </a:solidFill>
              </a:defRPr>
            </a:pPr>
            <a:r>
              <a:t>1. El Tsunami de Datos (Big Data)</a:t>
            </a:r>
          </a:p>
          <a:p>
            <a:pPr>
              <a:defRPr sz="2000"/>
            </a:pPr>
            <a:r>
              <a:t>   - Generamos más información en los últimos años que en toda la historia previa.</a:t>
            </a:r>
            <a:br/>
            <a:r>
              <a:t>   - Fuentes masivas: Dispositivos de medición inteligente, IoT, satélites y redes.</a:t>
            </a:r>
          </a:p>
          <a:p>
            <a:pPr>
              <a:spcBef>
                <a:spcPts val="2000"/>
              </a:spcBef>
              <a:defRPr b="1" sz="2400">
                <a:solidFill>
                  <a:srgbClr val="1F4E79"/>
                </a:solidFill>
              </a:defRPr>
            </a:pPr>
            <a:r>
              <a:t>2. Evolución y Democratización del Cómputo</a:t>
            </a:r>
          </a:p>
          <a:p>
            <a:pPr>
              <a:defRPr sz="2000"/>
            </a:pPr>
            <a:r>
              <a:t>   - Acceso elástico a GPUs masivas y TPUs optimizadas en la nube.</a:t>
            </a:r>
            <a:br/>
            <a:r>
              <a:t>   - Ecosistema Open Source maduro (Scikit-Learn, PyTorch, TensorFlow).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Arial"/>
              </a:defRPr>
            </a:pPr>
            <a:r>
              <a:t>El Mercado Laboral de ML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36015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3384"/>
                <a:gridCol w="3453384"/>
                <a:gridCol w="3453384"/>
              </a:tblGrid>
              <a:tr h="685800">
                <a:tc>
                  <a:txBody>
                    <a:bodyPr/>
                    <a:lstStyle/>
                    <a:p>
                      <a:r>
                        <a:t>Perfil Profesional</a:t>
                      </a:r>
                    </a:p>
                  </a:txBody>
                  <a:tcPr>
                    <a:solidFill>
                      <a:srgbClr val="D6E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Salario USA (Anual)</a:t>
                      </a:r>
                    </a:p>
                  </a:txBody>
                  <a:tcPr>
                    <a:solidFill>
                      <a:srgbClr val="D6E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Salario LATAM (Anual)</a:t>
                      </a:r>
                    </a:p>
                  </a:txBody>
                  <a:tcPr>
                    <a:solidFill>
                      <a:srgbClr val="D6E3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Junior ML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$75K - $95K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$18K - $28K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Mid-Level ML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$100K - $133K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$35K - $60K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Senior ML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$162K - $250K+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$70K - $100K+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Arial"/>
              </a:defRPr>
            </a:pPr>
            <a:r>
              <a:t>Aplicaciones Reales del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2200"/>
            </a:pPr>
            <a:r>
              <a:t>✔ Finanzas: Detección automatizada de fraudes bancarios en milisegundos.</a:t>
            </a:r>
          </a:p>
          <a:p>
            <a:pPr>
              <a:spcAft>
                <a:spcPts val="1400"/>
              </a:spcAft>
              <a:defRPr sz="2200"/>
            </a:pPr>
            <a:r>
              <a:t>✔ Medicina: Diagnósticos asistidos por visión computacional en imágenes médicas.</a:t>
            </a:r>
          </a:p>
          <a:p>
            <a:pPr>
              <a:spcAft>
                <a:spcPts val="1400"/>
              </a:spcAft>
              <a:defRPr sz="2200"/>
            </a:pPr>
            <a:r>
              <a:t>✔ Energía (Caso ANDE): Caracterización de perfiles de demanda residencial mediante medidores inteligentes.</a:t>
            </a:r>
          </a:p>
          <a:p>
            <a:pPr>
              <a:spcAft>
                <a:spcPts val="1400"/>
              </a:spcAft>
              <a:defRPr sz="2200"/>
            </a:pPr>
            <a:r>
              <a:t>✔ Robótica y Transporte: Sistemas de navegación autónoma y control adaptativo en tiempo real.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6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457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000">
                <a:solidFill>
                  <a:srgbClr val="1F4E79"/>
                </a:solidFill>
                <a:latin typeface="Arial"/>
              </a:defRPr>
            </a:pPr>
            <a:r>
              <a:t>¿Cómo se diferencian e interactúan los conceptos de IA, Machine Learning y Deep Learning?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Arial"/>
              </a:defRPr>
            </a:pPr>
            <a:r>
              <a:t>IA vs ML vs DL: La Jerarquía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>
                <a:solidFill>
                  <a:srgbClr val="1F4E79"/>
                </a:solidFill>
              </a:defRPr>
            </a:pPr>
            <a:r>
              <a:t>• Inteligencia Artificial (IA): </a:t>
            </a:r>
          </a:p>
          <a:p>
            <a:pPr>
              <a:spcAft>
                <a:spcPts val="1000"/>
              </a:spcAft>
              <a:defRPr sz="1800"/>
            </a:pPr>
            <a:r>
              <a:t>  Ecosistema general enfocado en automatizar tareas intelectuales humanas.</a:t>
            </a:r>
          </a:p>
          <a:p>
            <a:pPr>
              <a:defRPr b="1" sz="2000">
                <a:solidFill>
                  <a:srgbClr val="1F4E79"/>
                </a:solidFill>
              </a:defRPr>
            </a:pPr>
            <a:r>
              <a:t>• Machine Learning (ML): </a:t>
            </a:r>
          </a:p>
          <a:p>
            <a:pPr>
              <a:spcAft>
                <a:spcPts val="1000"/>
              </a:spcAft>
              <a:defRPr sz="1800"/>
            </a:pPr>
            <a:r>
              <a:t>  Subcampo estadístico donde el algoritmo aprende patrones directo de los datos sin reglas explícitas.</a:t>
            </a:r>
          </a:p>
          <a:p>
            <a:pPr>
              <a:defRPr b="1" sz="2000">
                <a:solidFill>
                  <a:srgbClr val="1F4E79"/>
                </a:solidFill>
              </a:defRPr>
            </a:pPr>
            <a:r>
              <a:t>• Deep Learning (DL): </a:t>
            </a:r>
          </a:p>
          <a:p>
            <a:pPr>
              <a:spcAft>
                <a:spcPts val="1000"/>
              </a:spcAft>
              <a:defRPr sz="1800"/>
            </a:pPr>
            <a:r>
              <a:t>  Subcategoría avanzada del ML basada en redes neuronales profundas para procesar datos complejos.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Arial"/>
              </a:defRPr>
            </a:pPr>
            <a:r>
              <a:t>Definición Formal de Aprendizaje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0152" cy="2011680"/>
          </a:xfrm>
          <a:prstGeom prst="roundRect">
            <a:avLst/>
          </a:prstGeom>
          <a:solidFill>
            <a:srgbClr val="D6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1F4E79"/>
                </a:solidFill>
              </a:defRPr>
            </a:pPr>
            <a:r>
              <a:t>Definición de Tom Mitchell (1997):</a:t>
            </a:r>
          </a:p>
          <a:p>
            <a:pPr>
              <a:defRPr i="1" sz="1800"/>
            </a:pPr>
            <a:r>
              <a:t>"Un programa de computadora aprende de la experiencia E con respecto a una clase de tareas T y una medida de rendimiento P, si su desempeño en las tareas de T, medido por P, mejora con la experiencia E."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Arial"/>
              </a:defRPr>
            </a:pPr>
            <a:r>
              <a:t>Los Tres Grandes Tipos de Aprendizaje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500"/>
              </a:spcAft>
              <a:defRPr sz="2000"/>
            </a:pPr>
            <a:r>
              <a:t>■ Supervisado: Aprende mediante un histórico de datos completamente etiquetados (Pares Entrada -&gt; Salida Correcta).</a:t>
            </a:r>
          </a:p>
          <a:p>
            <a:pPr>
              <a:spcAft>
                <a:spcPts val="1500"/>
              </a:spcAft>
              <a:defRPr sz="2000"/>
            </a:pPr>
            <a:r>
              <a:t>■ No Supervisado: Los datos carecen de etiquetas. El algoritmo descubre agrupaciones o estructuras internas ocultas por proximidad.</a:t>
            </a:r>
          </a:p>
          <a:p>
            <a:pPr>
              <a:spcAft>
                <a:spcPts val="1500"/>
              </a:spcAft>
              <a:defRPr sz="2000"/>
            </a:pPr>
            <a:r>
              <a:t>■ Por Refuerzo (RL): Un agente independiente interactúa de forma dinámica con un entorno y aprende optimizando recompensas.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Arial"/>
              </a:defRPr>
            </a:pPr>
            <a:r>
              <a:t>Regresión Lineal: Predicción Continua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/>
            </a:pPr>
            <a:r>
              <a:t>Modelo Matemático:</a:t>
            </a:r>
          </a:p>
          <a:p>
            <a:pPr>
              <a:defRPr sz="2400">
                <a:solidFill>
                  <a:srgbClr val="1F4E79"/>
                </a:solidFill>
                <a:latin typeface="Courier New"/>
              </a:defRPr>
            </a:pPr>
            <a:r>
              <a:t>      y_pred = w^T * x + b</a:t>
            </a:r>
          </a:p>
          <a:p>
            <a:pPr>
              <a:spcBef>
                <a:spcPts val="2000"/>
              </a:spcBef>
              <a:defRPr b="1" sz="2200"/>
            </a:pPr>
            <a:r>
              <a:t>Función de Pérdida (MSE - Error Cuadrático Medio):</a:t>
            </a:r>
          </a:p>
          <a:p>
            <a:pPr>
              <a:defRPr sz="2400">
                <a:solidFill>
                  <a:srgbClr val="1F4E79"/>
                </a:solidFill>
                <a:latin typeface="Courier New"/>
              </a:defRPr>
            </a:pPr>
            <a:r>
              <a:t>      J(w, b) = (1 / 2n) * Σ (y_real - y_pred)^2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Arial"/>
              </a:defRPr>
            </a:pPr>
            <a:r>
              <a:t>Clasificación: Regresión Logística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Mapeo Probabilístico mediante Sigmoide:</a:t>
            </a:r>
          </a:p>
          <a:p>
            <a:pPr>
              <a:defRPr sz="2400">
                <a:solidFill>
                  <a:srgbClr val="1F4E79"/>
                </a:solidFill>
                <a:latin typeface="Courier New"/>
              </a:defRPr>
            </a:pPr>
            <a:r>
              <a:t>      σ(z) = 1 / (1 + e^-z)</a:t>
            </a:r>
          </a:p>
          <a:p>
            <a:pPr>
              <a:spcBef>
                <a:spcPts val="2000"/>
              </a:spcBef>
              <a:defRPr b="1"/>
            </a:pPr>
            <a:r>
              <a:t>Función de Pérdida (Cross-Entropy / Entropía Cruzada):</a:t>
            </a:r>
          </a:p>
          <a:p>
            <a:pPr>
              <a:defRPr sz="2000">
                <a:solidFill>
                  <a:srgbClr val="1F4E79"/>
                </a:solidFill>
                <a:latin typeface="Courier New"/>
              </a:defRPr>
            </a:pPr>
            <a:r>
              <a:t>      L = - (1 / n) * Σ [ y_i * log(y_pred) + (1 - y_i) * log(1 - y_pred)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Arial"/>
              </a:defRPr>
            </a:pPr>
            <a:r>
              <a:t>K-Means Clustering y el Problema de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Optimización Matemática:</a:t>
            </a:r>
          </a:p>
          <a:p>
            <a:pPr>
              <a:defRPr sz="2200">
                <a:solidFill>
                  <a:srgbClr val="1F4E79"/>
                </a:solidFill>
                <a:latin typeface="Courier New"/>
              </a:defRPr>
            </a:pPr>
            <a:r>
              <a:t>      Minimizar J = Σ Σ ||x_i - c_j||^2</a:t>
            </a:r>
          </a:p>
          <a:p>
            <a:pPr>
              <a:spcBef>
                <a:spcPts val="1500"/>
              </a:spcBef>
              <a:defRPr b="1"/>
            </a:pPr>
            <a:r>
              <a:t>El desafío crítico del parámetro 'K':</a:t>
            </a:r>
          </a:p>
          <a:p>
            <a:pPr>
              <a:defRPr sz="1800"/>
            </a:pPr>
            <a:r>
              <a:t>   - Al ser un entorno No Supervisado, el número ideal de grupos no se conoce de antemano.</a:t>
            </a:r>
            <a:br/>
            <a:r>
              <a:t>   - Solución práctica: Inspección analítica mediante el Método del Codo (Elbow Method) o Coeficientes de Silueta.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Arial"/>
              </a:defRPr>
            </a:pPr>
            <a:r>
              <a:t>Aprendizaje por Refuerzo: Q-Learning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Actualización de Políticas por Ecuación de Bellman:</a:t>
            </a:r>
          </a:p>
          <a:p>
            <a:pPr>
              <a:spcAft>
                <a:spcPts val="1500"/>
              </a:spcAft>
              <a:defRPr sz="2000">
                <a:solidFill>
                  <a:srgbClr val="1F4E79"/>
                </a:solidFill>
                <a:latin typeface="Courier New"/>
              </a:defRPr>
            </a:pPr>
            <a:r>
              <a:t>   Q(s,a) &lt;- Q(s,a) + α * [ R(s,a) + γ * max Q(s',a') - Q(s,a) ]</a:t>
            </a:r>
          </a:p>
          <a:p>
            <a:pPr>
              <a:defRPr sz="1800"/>
            </a:pPr>
            <a:r>
              <a:t>Variables del Sistema:</a:t>
            </a:r>
            <a:br/>
            <a:r>
              <a:t>   - α (Learning Rate): Velocidad de adquisición de nuevo conocimiento.</a:t>
            </a:r>
            <a:br/>
            <a:r>
              <a:t>   - γ (Factor de Descuento): Peso de las recompensas a largo plazo frente a las inmediatas.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Arial"/>
              </a:defRPr>
            </a:pPr>
            <a:r>
              <a:t>Tabla Comparativa del Aprendizaje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6540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552"/>
                <a:gridCol w="3044952"/>
                <a:gridCol w="3044952"/>
                <a:gridCol w="3044952"/>
              </a:tblGrid>
              <a:tr h="914400">
                <a:tc>
                  <a:txBody>
                    <a:bodyPr/>
                    <a:lstStyle/>
                    <a:p>
                      <a:r>
                        <a:t>Dimensión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Supervisado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 Supervisado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Por Refuerzo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Datos de Entrada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Completamente Etiquetados (x, 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Sin Etiquetas de salida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Interacción Dinámica continua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Objetivo General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Predecir variable numérica o clase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Encontrar estructuras u organización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Maximizar recompensa acumulada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Algoritmos de ejemplo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Regresión Lineal, Regresión Logística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K-Means, PCA (Reducción Dim.)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Q-Learning, PPO, DQN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Arial"/>
              </a:defRPr>
            </a:pPr>
            <a:r>
              <a:t>Bloque Práctico: Entorno en Google Colab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500"/>
              </a:spcAft>
              <a:defRPr sz="2200"/>
            </a:pPr>
            <a:r>
              <a:t>💻 Infraestructura en la nube lista para desarrollo inmediato sin configuraciones de hardware locales.</a:t>
            </a:r>
          </a:p>
          <a:p>
            <a:pPr>
              <a:spcAft>
                <a:spcPts val="1500"/>
              </a:spcAft>
              <a:defRPr sz="2200"/>
            </a:pPr>
            <a:r>
              <a:t>💻 Acceso gratuito a aceleración de hardware por GPU y TPU.</a:t>
            </a:r>
          </a:p>
          <a:p>
            <a:pPr>
              <a:spcAft>
                <a:spcPts val="1500"/>
              </a:spcAft>
              <a:defRPr sz="2200"/>
            </a:pPr>
            <a:r>
              <a:t>💻 Integración directa con repositorios de GitHub para clonado de prácticas y control de versiones.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Arial"/>
              </a:defRPr>
            </a:pPr>
            <a:r>
              <a:t>Práctica: Generación de Datos Sintéticos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8000"/>
                </a:solidFill>
                <a:latin typeface="Courier New"/>
              </a:defRPr>
            </a:pPr>
            <a:r>
              <a:t># Simulación de datos no lineales mediante Scikit-Learn</a:t>
            </a:r>
          </a:p>
          <a:p>
            <a:pPr>
              <a:defRPr sz="1600">
                <a:solidFill>
                  <a:srgbClr val="282828"/>
                </a:solidFill>
                <a:latin typeface="Courier New"/>
              </a:defRPr>
            </a:pPr>
            <a:r>
              <a:t>import matplotlib.pyplot as plt</a:t>
            </a:r>
            <a:br/>
            <a:r>
              <a:t>from sklearn.datasets import make_moons</a:t>
            </a:r>
            <a:br/>
            <a:br/>
            <a:r>
              <a:t># Crear dataset simulado con geometría de dos lunas interconectadas</a:t>
            </a:r>
            <a:br/>
            <a:r>
              <a:t>X, y = make_moons(n_samples=300, noise=0.20, random_state=42)</a:t>
            </a:r>
            <a:br/>
            <a:br/>
            <a:r>
              <a:t>plt.scatter(X[:, 0], X[:, 1], c=y, cmap='coolwarm', edgecolors='k')</a:t>
            </a:r>
            <a:br/>
            <a:r>
              <a:t>plt.title("Visualización del Dataset de Prueba No Lineal")</a:t>
            </a:r>
            <a:br/>
            <a:r>
              <a:t>plt.show()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6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457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000">
                <a:solidFill>
                  <a:srgbClr val="1F4E79"/>
                </a:solidFill>
                <a:latin typeface="Arial"/>
              </a:defRPr>
            </a:pPr>
            <a:r>
              <a:t>¿Cómo puede una máquina trazar una frontera geométrica para separar estas dos clases de puntos?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Arial"/>
              </a:defRPr>
            </a:pPr>
            <a:r>
              <a:t>El Clasificador k-NN (k-Nearest Neighbors)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500"/>
              </a:spcAft>
              <a:defRPr sz="2000"/>
            </a:pPr>
            <a:r>
              <a:t>• Algoritmo de Tipo Instancia (Lazy Learner): No calcula coeficientes explícitos en el entrenamiento.</a:t>
            </a:r>
          </a:p>
          <a:p>
            <a:pPr>
              <a:spcAft>
                <a:spcPts val="1500"/>
              </a:spcAft>
              <a:defRPr sz="2000"/>
            </a:pPr>
            <a:r>
              <a:t>• Cálculo de Distancias: Ante un nuevo dato, mide la distancia euclidiana general hacia todos los puntos existentes.</a:t>
            </a:r>
          </a:p>
          <a:p>
            <a:pPr>
              <a:spcAft>
                <a:spcPts val="1500"/>
              </a:spcAft>
              <a:defRPr sz="2000"/>
            </a:pPr>
            <a:r>
              <a:t>• Votación de Mayoría Simple: Evalúa las etiquetas de los 'k' vecinos geométricamente más cercanos y asigna la clase predominante.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Arial"/>
              </a:defRPr>
            </a:pPr>
            <a:r>
              <a:t>Implementación de k-NN en Scikit-Learn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2828"/>
                </a:solidFill>
                <a:latin typeface="Courier New"/>
              </a:defRPr>
            </a:pPr>
            <a:r>
              <a:t>from sklearn.neighbors import KNeighborsClassifier</a:t>
            </a:r>
            <a:br/>
            <a:br/>
            <a:r>
              <a:t># 1. Instanciar el objeto definiendo k=5 vecinos clave</a:t>
            </a:r>
            <a:br/>
            <a:r>
              <a:t>clf = KNeighborsClassifier(n_neighbors=5)</a:t>
            </a:r>
            <a:br/>
            <a:br/>
            <a:r>
              <a:t># 2. Ejecutar ajuste en memoria (.fit)</a:t>
            </a:r>
            <a:br/>
            <a:r>
              <a:t>clf.fit(X, y)</a:t>
            </a:r>
            <a:br/>
            <a:br/>
            <a:r>
              <a:t># 3. Evaluar la métrica de precisión final obtenida</a:t>
            </a:r>
            <a:br/>
            <a:r>
              <a:t>accuracy = clf.score(X, y)</a:t>
            </a:r>
            <a:br/>
            <a:r>
              <a:t>print(f"Precisión lograda por el modelo en entrenamiento: {accuracy:.2f}")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Arial"/>
              </a:defRPr>
            </a:pPr>
            <a:r>
              <a:t>Plan de Evaluación de la Materia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36015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3384"/>
                <a:gridCol w="3453384"/>
                <a:gridCol w="3453384"/>
              </a:tblGrid>
              <a:tr h="685800">
                <a:tc>
                  <a:txBody>
                    <a:bodyPr/>
                    <a:lstStyle/>
                    <a:p>
                      <a:r>
                        <a:t>Componente Académico</a:t>
                      </a:r>
                    </a:p>
                  </a:txBody>
                  <a:tcPr>
                    <a:solidFill>
                      <a:srgbClr val="D6E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Porcentaje de Peso</a:t>
                      </a:r>
                    </a:p>
                  </a:txBody>
                  <a:tcPr>
                    <a:solidFill>
                      <a:srgbClr val="D6E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Forma de Entrega / Control</a:t>
                      </a:r>
                    </a:p>
                  </a:txBody>
                  <a:tcPr>
                    <a:solidFill>
                      <a:srgbClr val="D6E3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Tareas y Laboratorios Semanales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Avances subidos directo a repositorios de GitHub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Proyecto Final Aplicado (TFG)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Código documentado completo junto con defensa oral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Examen Conceptual Parcial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Cuestionario teórico de lógica síncrono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400">
                <a:solidFill>
                  <a:srgbClr val="FFFFFF"/>
                </a:solidFill>
              </a:defRPr>
            </a:pPr>
            <a:r>
              <a:t>¡Muchas gracias por su atención!</a:t>
            </a:r>
          </a:p>
          <a:p>
            <a:pPr algn="ctr">
              <a:defRPr sz="2000">
                <a:solidFill>
                  <a:srgbClr val="D6E3F1"/>
                </a:solidFill>
              </a:defRPr>
            </a:pPr>
            <a:r>
              <a:t>Espacio abierto para consultas, dudas y debate técnico.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